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453" r:id="rId1"/>
  </p:sldMasterIdLst>
  <p:notesMasterIdLst>
    <p:notesMasterId r:id="rId28"/>
  </p:notesMasterIdLst>
  <p:handoutMasterIdLst>
    <p:handoutMasterId r:id="rId29"/>
  </p:handoutMasterIdLst>
  <p:sldIdLst>
    <p:sldId id="325" r:id="rId2"/>
    <p:sldId id="326" r:id="rId3"/>
    <p:sldId id="380" r:id="rId4"/>
    <p:sldId id="381" r:id="rId5"/>
    <p:sldId id="382" r:id="rId6"/>
    <p:sldId id="383" r:id="rId7"/>
    <p:sldId id="384" r:id="rId8"/>
    <p:sldId id="385" r:id="rId9"/>
    <p:sldId id="388" r:id="rId10"/>
    <p:sldId id="390" r:id="rId11"/>
    <p:sldId id="391" r:id="rId12"/>
    <p:sldId id="412" r:id="rId13"/>
    <p:sldId id="392" r:id="rId14"/>
    <p:sldId id="395" r:id="rId15"/>
    <p:sldId id="396" r:id="rId16"/>
    <p:sldId id="397" r:id="rId17"/>
    <p:sldId id="398" r:id="rId18"/>
    <p:sldId id="400" r:id="rId19"/>
    <p:sldId id="401" r:id="rId20"/>
    <p:sldId id="399" r:id="rId21"/>
    <p:sldId id="402" r:id="rId22"/>
    <p:sldId id="403" r:id="rId23"/>
    <p:sldId id="404" r:id="rId24"/>
    <p:sldId id="405" r:id="rId25"/>
    <p:sldId id="406" r:id="rId26"/>
    <p:sldId id="407" r:id="rId27"/>
  </p:sldIdLst>
  <p:sldSz cx="12192000" cy="6858000"/>
  <p:notesSz cx="6645275" cy="9777413"/>
  <p:defaultTextStyle>
    <a:defPPr>
      <a:defRPr lang="zh-CN"/>
    </a:defPPr>
    <a:lvl1pPr algn="ctr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000" kern="1200">
        <a:solidFill>
          <a:schemeClr val="tx1"/>
        </a:solidFill>
        <a:latin typeface="黑体" pitchFamily="49" charset="-122"/>
        <a:ea typeface="黑体" pitchFamily="49" charset="-122"/>
        <a:cs typeface="+mn-cs"/>
      </a:defRPr>
    </a:lvl1pPr>
    <a:lvl2pPr marL="457200" algn="ctr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000" kern="1200">
        <a:solidFill>
          <a:schemeClr val="tx1"/>
        </a:solidFill>
        <a:latin typeface="黑体" pitchFamily="49" charset="-122"/>
        <a:ea typeface="黑体" pitchFamily="49" charset="-122"/>
        <a:cs typeface="+mn-cs"/>
      </a:defRPr>
    </a:lvl2pPr>
    <a:lvl3pPr marL="914400" algn="ctr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000" kern="1200">
        <a:solidFill>
          <a:schemeClr val="tx1"/>
        </a:solidFill>
        <a:latin typeface="黑体" pitchFamily="49" charset="-122"/>
        <a:ea typeface="黑体" pitchFamily="49" charset="-122"/>
        <a:cs typeface="+mn-cs"/>
      </a:defRPr>
    </a:lvl3pPr>
    <a:lvl4pPr marL="1371600" algn="ctr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000" kern="1200">
        <a:solidFill>
          <a:schemeClr val="tx1"/>
        </a:solidFill>
        <a:latin typeface="黑体" pitchFamily="49" charset="-122"/>
        <a:ea typeface="黑体" pitchFamily="49" charset="-122"/>
        <a:cs typeface="+mn-cs"/>
      </a:defRPr>
    </a:lvl4pPr>
    <a:lvl5pPr marL="1828800" algn="ctr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000" kern="1200">
        <a:solidFill>
          <a:schemeClr val="tx1"/>
        </a:solidFill>
        <a:latin typeface="黑体" pitchFamily="49" charset="-122"/>
        <a:ea typeface="黑体" pitchFamily="49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黑体" pitchFamily="49" charset="-122"/>
        <a:ea typeface="黑体" pitchFamily="49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黑体" pitchFamily="49" charset="-122"/>
        <a:ea typeface="黑体" pitchFamily="49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黑体" pitchFamily="49" charset="-122"/>
        <a:ea typeface="黑体" pitchFamily="49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黑体" pitchFamily="49" charset="-122"/>
        <a:ea typeface="黑体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0">
          <p15:clr>
            <a:srgbClr val="A4A3A4"/>
          </p15:clr>
        </p15:guide>
        <p15:guide id="2" pos="209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34F8"/>
    <a:srgbClr val="D1CE40"/>
    <a:srgbClr val="FFFFFF"/>
    <a:srgbClr val="748745"/>
    <a:srgbClr val="52C4B9"/>
    <a:srgbClr val="FFAAA1"/>
    <a:srgbClr val="FFFFCC"/>
    <a:srgbClr val="FF0066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68" autoAdjust="0"/>
    <p:restoredTop sz="81533" autoAdjust="0"/>
  </p:normalViewPr>
  <p:slideViewPr>
    <p:cSldViewPr>
      <p:cViewPr varScale="1">
        <p:scale>
          <a:sx n="84" d="100"/>
          <a:sy n="84" d="100"/>
        </p:scale>
        <p:origin x="297" y="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16" y="-54"/>
      </p:cViewPr>
      <p:guideLst>
        <p:guide orient="horz" pos="3080"/>
        <p:guide pos="209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38" tIns="46919" rIns="93838" bIns="46919" numCol="1" anchor="t" anchorCtr="0" compatLnSpc="1">
            <a:prstTxWarp prst="textNoShape">
              <a:avLst/>
            </a:prstTxWarp>
          </a:bodyPr>
          <a:lstStyle>
            <a:lvl1pPr algn="l" defTabSz="938213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Verdan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5550" y="0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38" tIns="46919" rIns="93838" bIns="46919" numCol="1" anchor="t" anchorCtr="0" compatLnSpc="1">
            <a:prstTxWarp prst="textNoShape">
              <a:avLst/>
            </a:prstTxWarp>
          </a:bodyPr>
          <a:lstStyle>
            <a:lvl1pPr algn="r" defTabSz="938213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Verdan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88463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38" tIns="46919" rIns="93838" bIns="46919" numCol="1" anchor="b" anchorCtr="0" compatLnSpc="1">
            <a:prstTxWarp prst="textNoShape">
              <a:avLst/>
            </a:prstTxWarp>
          </a:bodyPr>
          <a:lstStyle>
            <a:lvl1pPr algn="l" defTabSz="938213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Verdan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5550" y="9288463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38" tIns="46919" rIns="93838" bIns="46919" numCol="1" anchor="b" anchorCtr="0" compatLnSpc="1">
            <a:prstTxWarp prst="textNoShape">
              <a:avLst/>
            </a:prstTxWarp>
          </a:bodyPr>
          <a:lstStyle>
            <a:lvl1pPr algn="r" defTabSz="938213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Verdan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2EA0E1BE-B57A-4F68-85F4-BE96B34E6F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89270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38" tIns="46919" rIns="93838" bIns="46919" numCol="1" anchor="t" anchorCtr="0" compatLnSpc="1">
            <a:prstTxWarp prst="textNoShape">
              <a:avLst/>
            </a:prstTxWarp>
          </a:bodyPr>
          <a:lstStyle>
            <a:lvl1pPr algn="l" defTabSz="938213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5550" y="0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38" tIns="46919" rIns="93838" bIns="46919" numCol="1" anchor="t" anchorCtr="0" compatLnSpc="1">
            <a:prstTxWarp prst="textNoShape">
              <a:avLst/>
            </a:prstTxWarp>
          </a:bodyPr>
          <a:lstStyle>
            <a:lvl1pPr algn="r" defTabSz="938213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6675" y="733425"/>
            <a:ext cx="6513513" cy="36655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5825" y="4643438"/>
            <a:ext cx="4873625" cy="440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38" tIns="46919" rIns="93838" bIns="469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88463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38" tIns="46919" rIns="93838" bIns="46919" numCol="1" anchor="b" anchorCtr="0" compatLnSpc="1">
            <a:prstTxWarp prst="textNoShape">
              <a:avLst/>
            </a:prstTxWarp>
          </a:bodyPr>
          <a:lstStyle>
            <a:lvl1pPr algn="l" defTabSz="938213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5550" y="9288463"/>
            <a:ext cx="2879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838" tIns="46919" rIns="93838" bIns="46919" numCol="1" anchor="b" anchorCtr="0" compatLnSpc="1">
            <a:prstTxWarp prst="textNoShape">
              <a:avLst/>
            </a:prstTxWarp>
          </a:bodyPr>
          <a:lstStyle>
            <a:lvl1pPr algn="r" defTabSz="938213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6720BF45-DEC5-4AEF-8798-1024CFDF36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14708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8213" eaLnBrk="0" hangingPunct="0"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 defTabSz="938213" eaLnBrk="0" hangingPunct="0"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marL="1143000" indent="-228600" defTabSz="938213" eaLnBrk="0" hangingPunct="0"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marL="1600200" indent="-228600" defTabSz="938213" eaLnBrk="0" hangingPunct="0"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marL="2057400" indent="-228600" defTabSz="938213" eaLnBrk="0" hangingPunct="0"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2514600" indent="-228600" algn="ctr" defTabSz="93821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2971800" indent="-228600" algn="ctr" defTabSz="93821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3429000" indent="-228600" algn="ctr" defTabSz="93821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3886200" indent="-228600" algn="ctr" defTabSz="938213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pPr eaLnBrk="1" hangingPunct="1"/>
            <a:fld id="{E7A8B422-5B71-49D5-BADB-42A00ABE25F8}" type="slidenum">
              <a:rPr lang="en-US" altLang="zh-CN" sz="1200" smtClean="0">
                <a:latin typeface="Times New Roman" pitchFamily="18" charset="0"/>
                <a:ea typeface="宋体" pitchFamily="2" charset="-122"/>
              </a:rPr>
              <a:pPr eaLnBrk="1" hangingPunct="1"/>
              <a:t>1</a:t>
            </a:fld>
            <a:endParaRPr lang="en-US" altLang="zh-CN" sz="1200" smtClean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6675" y="733425"/>
            <a:ext cx="6513513" cy="3665538"/>
          </a:xfrm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447451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609601"/>
            <a:ext cx="103632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953000"/>
            <a:ext cx="85344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ABF8D5-E842-4597-A2FD-CFBC76776AE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媒体信号处理基础（</a:t>
            </a:r>
            <a:r>
              <a:rPr lang="en-US" altLang="zh-CN" dirty="0" smtClean="0"/>
              <a:t>2012 </a:t>
            </a:r>
            <a:r>
              <a:rPr lang="zh-CN" altLang="en-US" dirty="0" smtClean="0"/>
              <a:t>夏）</a:t>
            </a:r>
            <a:endParaRPr lang="en-US" altLang="zh-CN" dirty="0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025352"/>
          </a:xfrm>
        </p:spPr>
        <p:txBody>
          <a:bodyPr/>
          <a:lstStyle>
            <a:lvl1pPr algn="l">
              <a:defRPr sz="4000">
                <a:latin typeface="黑体" pitchFamily="49" charset="-122"/>
                <a:ea typeface="黑体" pitchFamily="49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68760"/>
            <a:ext cx="10972800" cy="4896544"/>
          </a:xfrm>
        </p:spPr>
        <p:txBody>
          <a:bodyPr/>
          <a:lstStyle>
            <a:lvl1pPr>
              <a:buFont typeface="Arial" pitchFamily="34" charset="0"/>
              <a:buChar char="•"/>
              <a:defRPr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1pPr>
            <a:lvl2pP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>
              <a:buFont typeface="Arial" pitchFamily="34" charset="0"/>
              <a:buChar char="•"/>
              <a:defRPr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>
              <a:buFont typeface="Arial" pitchFamily="34" charset="0"/>
              <a:buChar char="•"/>
              <a:defRPr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>
              <a:buFont typeface="Arial" pitchFamily="34" charset="0"/>
              <a:buChar char="•"/>
              <a:defRPr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300" b="1" i="1"/>
            </a:lvl1pPr>
          </a:lstStyle>
          <a:p>
            <a:pPr>
              <a:defRPr/>
            </a:pPr>
            <a:r>
              <a:rPr lang="zh-CN" altLang="en-US" dirty="0" smtClean="0"/>
              <a:t>媒体信号处理基础（</a:t>
            </a:r>
            <a:r>
              <a:rPr lang="en-US" altLang="zh-CN" dirty="0" smtClean="0"/>
              <a:t>2012 </a:t>
            </a:r>
            <a:r>
              <a:rPr lang="zh-CN" altLang="en-US" dirty="0" smtClean="0"/>
              <a:t>夏）</a:t>
            </a:r>
            <a:endParaRPr lang="en-US" altLang="zh-C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23392" y="1052736"/>
            <a:ext cx="1094521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84463" y="6356351"/>
            <a:ext cx="2781300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78887" y="6356351"/>
            <a:ext cx="3797300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300" b="1" i="1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r>
              <a:rPr lang="zh-CN" altLang="en-US" smtClean="0"/>
              <a:t>媒体信号处理基础（</a:t>
            </a:r>
            <a:r>
              <a:rPr lang="en-US" altLang="zh-CN" smtClean="0"/>
              <a:t>2012 </a:t>
            </a:r>
            <a:r>
              <a:rPr lang="zh-CN" altLang="en-US" smtClean="0"/>
              <a:t>夏）</a:t>
            </a:r>
            <a:endParaRPr lang="en-US" altLang="zh-CN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91038" y="6356351"/>
            <a:ext cx="749300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>
              <a:defRPr/>
            </a:pPr>
            <a:fld id="{09721AB5-65DE-4BCB-90F3-F2BE08F006F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Oval 6"/>
          <p:cNvSpPr/>
          <p:nvPr/>
        </p:nvSpPr>
        <p:spPr>
          <a:xfrm>
            <a:off x="11277014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758826" y="6499384"/>
            <a:ext cx="113029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54" r:id="rId1"/>
    <p:sldLayoutId id="2147484455" r:id="rId2"/>
  </p:sldLayoutIdLst>
  <p:hf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&#21442;&#32771;&#36164;&#26009;/978-7-302-46738-0MATLAB&#22270;&#20687;&#22788;&#29702;&#20195;&#30721;/chapter11/ex11_17.m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703389" y="2276872"/>
            <a:ext cx="8785225" cy="762000"/>
          </a:xfrm>
        </p:spPr>
        <p:txBody>
          <a:bodyPr/>
          <a:lstStyle/>
          <a:p>
            <a:r>
              <a:rPr lang="zh-CN" altLang="en-US" sz="3600" b="1" dirty="0">
                <a:latin typeface="微软雅黑" pitchFamily="34" charset="-122"/>
                <a:ea typeface="微软雅黑" pitchFamily="34" charset="-122"/>
              </a:rPr>
              <a:t>图像分割与区域处理 </a:t>
            </a:r>
            <a:r>
              <a:rPr lang="en-US" altLang="zh-CN" sz="3600" b="1" dirty="0" smtClean="0">
                <a:latin typeface="微软雅黑" pitchFamily="34" charset="-122"/>
                <a:ea typeface="微软雅黑" pitchFamily="34" charset="-122"/>
              </a:rPr>
              <a:t>II</a:t>
            </a:r>
            <a:endParaRPr lang="zh-CN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9599" name="Text Box 15"/>
          <p:cNvSpPr txBox="1">
            <a:spLocks noChangeArrowheads="1"/>
          </p:cNvSpPr>
          <p:nvPr/>
        </p:nvSpPr>
        <p:spPr bwMode="gray">
          <a:xfrm>
            <a:off x="1955008" y="3717032"/>
            <a:ext cx="8281987" cy="1569660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dirty="0">
                <a:latin typeface="微软雅黑" pitchFamily="34" charset="-122"/>
                <a:ea typeface="微软雅黑" pitchFamily="34" charset="-122"/>
              </a:rPr>
              <a:t>肖俊</a:t>
            </a:r>
            <a:endParaRPr kumimoji="1"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zh-CN" altLang="en-US" sz="2400" dirty="0">
                <a:latin typeface="微软雅黑" pitchFamily="34" charset="-122"/>
                <a:ea typeface="微软雅黑" pitchFamily="34" charset="-122"/>
              </a:rPr>
              <a:t>浙江大学计算机学院 </a:t>
            </a:r>
            <a:r>
              <a:rPr kumimoji="1" lang="en-US" altLang="zh-CN" sz="2400" dirty="0">
                <a:latin typeface="微软雅黑" pitchFamily="34" charset="-122"/>
                <a:ea typeface="微软雅黑" pitchFamily="34" charset="-122"/>
              </a:rPr>
              <a:t> </a:t>
            </a: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400" smtClean="0">
                <a:latin typeface="Times New Roman" pitchFamily="18" charset="0"/>
                <a:ea typeface="楷体_GB2312" pitchFamily="49" charset="-122"/>
              </a:rPr>
              <a:t>2022</a:t>
            </a:r>
            <a:endParaRPr kumimoji="1" lang="en-US" altLang="zh-CN" sz="2400" dirty="0"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00954" y="1412777"/>
            <a:ext cx="4790094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Matlab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图像处理编程实践初步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内容提要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阈值分割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直方图阈值法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 smtClean="0">
                <a:latin typeface="Times New Roman" pitchFamily="18" charset="0"/>
                <a:cs typeface="Times New Roman" pitchFamily="18" charset="0"/>
              </a:rPr>
              <a:t>Otsu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阈值法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分水岭分割</a:t>
            </a: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法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迭代法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区域生长与分裂合并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区域生长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 smtClean="0">
                <a:latin typeface="Times New Roman" pitchFamily="18" charset="0"/>
                <a:cs typeface="Times New Roman" pitchFamily="18" charset="0"/>
              </a:rPr>
              <a:t>区域分裂与合并</a:t>
            </a: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图像分割概述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96752"/>
            <a:ext cx="9662864" cy="522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332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图像分割概述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grpSp>
        <p:nvGrpSpPr>
          <p:cNvPr id="7" name="组合 6"/>
          <p:cNvGrpSpPr/>
          <p:nvPr/>
        </p:nvGrpSpPr>
        <p:grpSpPr>
          <a:xfrm>
            <a:off x="594028" y="1340768"/>
            <a:ext cx="10776520" cy="4863203"/>
            <a:chOff x="594028" y="1340768"/>
            <a:chExt cx="10776520" cy="4863203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4028" y="1340768"/>
              <a:ext cx="10776520" cy="283762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99456" y="4219444"/>
              <a:ext cx="9721080" cy="19845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57331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阈值分割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1268760"/>
            <a:ext cx="10263119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708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阈值分割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96" y="1104698"/>
            <a:ext cx="8519910" cy="54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77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阈值分割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  <p:grpSp>
        <p:nvGrpSpPr>
          <p:cNvPr id="7" name="组合 6"/>
          <p:cNvGrpSpPr/>
          <p:nvPr/>
        </p:nvGrpSpPr>
        <p:grpSpPr>
          <a:xfrm>
            <a:off x="551384" y="1268760"/>
            <a:ext cx="10679832" cy="3623793"/>
            <a:chOff x="19645" y="1196752"/>
            <a:chExt cx="12291691" cy="4559897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45" y="1196752"/>
              <a:ext cx="12192000" cy="2330687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9336" y="3429000"/>
              <a:ext cx="12192000" cy="23276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42689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阈值分割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直方图阈值法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all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 all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imread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('rice.png');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figure, subplot(1,3,1);</a:t>
            </a:r>
          </a:p>
          <a:p>
            <a:pPr marL="0" indent="0">
              <a:buNone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imshow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(I),title('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原始图像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subplot(1,3,2);</a:t>
            </a:r>
          </a:p>
          <a:p>
            <a:pPr marL="0" indent="0">
              <a:buNone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imhist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(I),title('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直方图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   %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观察灰度直方图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I1=im2bw(I,120/255); % im2bw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函数需要将灰度值转换到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[0,1]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范围内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subplot(1,3,3);</a:t>
            </a:r>
          </a:p>
          <a:p>
            <a:pPr marL="0" indent="0">
              <a:buNone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imshow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(I1),title('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直方图阈值法分割结果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0" indent="0">
              <a:buNone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175" y="1124744"/>
            <a:ext cx="5167594" cy="299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542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阈值分割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——Otsu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阈值法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grpSp>
        <p:nvGrpSpPr>
          <p:cNvPr id="7" name="组合 6"/>
          <p:cNvGrpSpPr/>
          <p:nvPr/>
        </p:nvGrpSpPr>
        <p:grpSpPr>
          <a:xfrm>
            <a:off x="623392" y="1180149"/>
            <a:ext cx="10471177" cy="5417203"/>
            <a:chOff x="47328" y="1216399"/>
            <a:chExt cx="12201004" cy="6605913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328" y="1216399"/>
              <a:ext cx="12192000" cy="1668579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332" y="2884978"/>
              <a:ext cx="12192000" cy="49373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83050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阈值分割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——Otsu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阈值法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67958"/>
            <a:ext cx="8846803" cy="5553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313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064" y="1362311"/>
            <a:ext cx="5204354" cy="50295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阈值分割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——Otsu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阈值法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23800" y="1166399"/>
            <a:ext cx="5374969" cy="4204268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51" y="5298078"/>
            <a:ext cx="6998568" cy="109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406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阈值</a:t>
            </a:r>
            <a:r>
              <a:rPr lang="zh-CN" altLang="en-US" dirty="0" smtClean="0"/>
              <a:t>分割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自动阈值法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imread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('rice.png');              	%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读取图像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subplot(121),</a:t>
            </a:r>
          </a:p>
          <a:p>
            <a:pPr marL="0" indent="0">
              <a:buNone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imshow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(I);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title('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原始图像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graythresh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(I);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BW=im2bw(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I,level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        	%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最大类间方差法分割图像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subplot(122),</a:t>
            </a:r>
          </a:p>
          <a:p>
            <a:pPr marL="0" indent="0">
              <a:buNone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imshow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(BW)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title('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自动阈值法分割图像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0" indent="0">
              <a:buNone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strcat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graythresh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计算灰度阈值：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',num2str(uint8(level*255))))</a:t>
            </a:r>
          </a:p>
          <a:p>
            <a:pPr marL="0" indent="0">
              <a:buNone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048" y="692696"/>
            <a:ext cx="5544616" cy="256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705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阈值分割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迭代式阈值选择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86507"/>
            <a:ext cx="9527012" cy="563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938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阈值分割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迭代式阈值选择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700" dirty="0">
                <a:hlinkClick r:id="rId2" action="ppaction://hlinkfile"/>
              </a:rPr>
              <a:t>clear all;</a:t>
            </a:r>
          </a:p>
          <a:p>
            <a:pPr marL="0" indent="0">
              <a:buNone/>
            </a:pPr>
            <a:r>
              <a:rPr lang="en-US" altLang="zh-CN" sz="700" dirty="0" smtClean="0">
                <a:hlinkClick r:id="rId2" action="ppaction://hlinkfile"/>
              </a:rPr>
              <a:t>I=</a:t>
            </a:r>
            <a:r>
              <a:rPr lang="en-US" altLang="zh-CN" sz="700" dirty="0" err="1" smtClean="0">
                <a:hlinkClick r:id="rId2" action="ppaction://hlinkfile"/>
              </a:rPr>
              <a:t>imread</a:t>
            </a:r>
            <a:r>
              <a:rPr lang="en-US" altLang="zh-CN" sz="700" dirty="0" smtClean="0">
                <a:hlinkClick r:id="rId2" action="ppaction://hlinkfile"/>
              </a:rPr>
              <a:t>(</a:t>
            </a:r>
            <a:r>
              <a:rPr lang="en-US" altLang="zh-CN" sz="700" dirty="0">
                <a:hlinkClick r:id="rId2" action="ppaction://hlinkfile"/>
              </a:rPr>
              <a:t>'</a:t>
            </a:r>
            <a:r>
              <a:rPr lang="en-US" altLang="zh-CN" sz="700" dirty="0" smtClean="0">
                <a:hlinkClick r:id="rId2" action="ppaction://hlinkfile"/>
              </a:rPr>
              <a:t>rice.png');</a:t>
            </a:r>
            <a:endParaRPr lang="en-US" altLang="zh-CN" sz="700" dirty="0">
              <a:hlinkClick r:id="rId2" action="ppaction://hlinkfile"/>
            </a:endParaRPr>
          </a:p>
          <a:p>
            <a:pPr marL="0" indent="0">
              <a:buNone/>
            </a:pPr>
            <a:r>
              <a:rPr lang="en-US" altLang="zh-CN" sz="700" dirty="0">
                <a:hlinkClick r:id="rId2" action="ppaction://hlinkfile"/>
              </a:rPr>
              <a:t>ZMAX=max(max(I));   %</a:t>
            </a:r>
            <a:r>
              <a:rPr lang="zh-CN" altLang="en-US" sz="700" dirty="0">
                <a:hlinkClick r:id="rId2" action="ppaction://hlinkfile"/>
              </a:rPr>
              <a:t>取出最大灰度值</a:t>
            </a:r>
          </a:p>
          <a:p>
            <a:pPr marL="0" indent="0">
              <a:buNone/>
            </a:pPr>
            <a:r>
              <a:rPr lang="en-US" altLang="zh-CN" sz="700" dirty="0">
                <a:hlinkClick r:id="rId2" action="ppaction://hlinkfile"/>
              </a:rPr>
              <a:t>ZMIN=min(min(I));    %</a:t>
            </a:r>
            <a:r>
              <a:rPr lang="zh-CN" altLang="en-US" sz="700" dirty="0">
                <a:hlinkClick r:id="rId2" action="ppaction://hlinkfile"/>
              </a:rPr>
              <a:t>取出最小灰度值</a:t>
            </a:r>
          </a:p>
          <a:p>
            <a:pPr marL="0" indent="0">
              <a:buNone/>
            </a:pPr>
            <a:r>
              <a:rPr lang="en-US" altLang="zh-CN" sz="700" dirty="0">
                <a:hlinkClick r:id="rId2" action="ppaction://hlinkfile"/>
              </a:rPr>
              <a:t>TK=(ZMAX+ZMIN)/2;</a:t>
            </a:r>
          </a:p>
          <a:p>
            <a:pPr marL="0" indent="0">
              <a:buNone/>
            </a:pPr>
            <a:r>
              <a:rPr lang="en-US" altLang="zh-CN" sz="700" dirty="0" err="1">
                <a:hlinkClick r:id="rId2" action="ppaction://hlinkfile"/>
              </a:rPr>
              <a:t>BCal</a:t>
            </a:r>
            <a:r>
              <a:rPr lang="en-US" altLang="zh-CN" sz="700" dirty="0">
                <a:hlinkClick r:id="rId2" action="ppaction://hlinkfile"/>
              </a:rPr>
              <a:t>=1;</a:t>
            </a:r>
          </a:p>
          <a:p>
            <a:pPr marL="0" indent="0">
              <a:buNone/>
            </a:pPr>
            <a:r>
              <a:rPr lang="en-US" altLang="zh-CN" sz="700" dirty="0" err="1">
                <a:hlinkClick r:id="rId2" action="ppaction://hlinkfile"/>
              </a:rPr>
              <a:t>iSize</a:t>
            </a:r>
            <a:r>
              <a:rPr lang="en-US" altLang="zh-CN" sz="700" dirty="0">
                <a:hlinkClick r:id="rId2" action="ppaction://hlinkfile"/>
              </a:rPr>
              <a:t>=size(I);  %</a:t>
            </a:r>
            <a:r>
              <a:rPr lang="zh-CN" altLang="en-US" sz="700" dirty="0">
                <a:hlinkClick r:id="rId2" action="ppaction://hlinkfile"/>
              </a:rPr>
              <a:t>图像的大小</a:t>
            </a:r>
          </a:p>
          <a:p>
            <a:pPr marL="0" indent="0">
              <a:buNone/>
            </a:pPr>
            <a:r>
              <a:rPr lang="en-US" altLang="zh-CN" sz="700" dirty="0">
                <a:hlinkClick r:id="rId2" action="ppaction://hlinkfile"/>
              </a:rPr>
              <a:t>while (</a:t>
            </a:r>
            <a:r>
              <a:rPr lang="en-US" altLang="zh-CN" sz="700" dirty="0" err="1">
                <a:hlinkClick r:id="rId2" action="ppaction://hlinkfile"/>
              </a:rPr>
              <a:t>BCal</a:t>
            </a:r>
            <a:r>
              <a:rPr lang="en-US" altLang="zh-CN" sz="700" dirty="0">
                <a:hlinkClick r:id="rId2" action="ppaction://hlinkfile"/>
              </a:rPr>
              <a:t>)   </a:t>
            </a:r>
          </a:p>
          <a:p>
            <a:pPr marL="0" indent="0">
              <a:buNone/>
            </a:pPr>
            <a:r>
              <a:rPr lang="en-US" altLang="zh-CN" sz="700" dirty="0">
                <a:hlinkClick r:id="rId2" action="ppaction://hlinkfile"/>
              </a:rPr>
              <a:t>         </a:t>
            </a:r>
            <a:r>
              <a:rPr lang="en-US" altLang="zh-CN" sz="700" dirty="0" err="1">
                <a:hlinkClick r:id="rId2" action="ppaction://hlinkfile"/>
              </a:rPr>
              <a:t>iForeground</a:t>
            </a:r>
            <a:r>
              <a:rPr lang="en-US" altLang="zh-CN" sz="700" dirty="0">
                <a:hlinkClick r:id="rId2" action="ppaction://hlinkfile"/>
              </a:rPr>
              <a:t>=0;  %</a:t>
            </a:r>
            <a:r>
              <a:rPr lang="zh-CN" altLang="en-US" sz="700" dirty="0">
                <a:hlinkClick r:id="rId2" action="ppaction://hlinkfile"/>
              </a:rPr>
              <a:t>前景数</a:t>
            </a:r>
          </a:p>
          <a:p>
            <a:pPr marL="0" indent="0">
              <a:buNone/>
            </a:pPr>
            <a:r>
              <a:rPr lang="zh-CN" altLang="en-US" sz="700" dirty="0">
                <a:hlinkClick r:id="rId2" action="ppaction://hlinkfile"/>
              </a:rPr>
              <a:t>    </a:t>
            </a:r>
            <a:r>
              <a:rPr lang="en-US" altLang="zh-CN" sz="700" dirty="0" err="1">
                <a:hlinkClick r:id="rId2" action="ppaction://hlinkfile"/>
              </a:rPr>
              <a:t>iBackground</a:t>
            </a:r>
            <a:r>
              <a:rPr lang="en-US" altLang="zh-CN" sz="700" dirty="0">
                <a:hlinkClick r:id="rId2" action="ppaction://hlinkfile"/>
              </a:rPr>
              <a:t>=0;    %</a:t>
            </a:r>
            <a:r>
              <a:rPr lang="zh-CN" altLang="en-US" sz="700" dirty="0">
                <a:hlinkClick r:id="rId2" action="ppaction://hlinkfile"/>
              </a:rPr>
              <a:t>定义背景数</a:t>
            </a:r>
          </a:p>
          <a:p>
            <a:pPr marL="0" indent="0">
              <a:buNone/>
            </a:pPr>
            <a:r>
              <a:rPr lang="zh-CN" altLang="en-US" sz="700" dirty="0">
                <a:hlinkClick r:id="rId2" action="ppaction://hlinkfile"/>
              </a:rPr>
              <a:t>    </a:t>
            </a:r>
            <a:r>
              <a:rPr lang="en-US" altLang="zh-CN" sz="700" dirty="0" err="1">
                <a:hlinkClick r:id="rId2" action="ppaction://hlinkfile"/>
              </a:rPr>
              <a:t>ForegroundSum</a:t>
            </a:r>
            <a:r>
              <a:rPr lang="en-US" altLang="zh-CN" sz="700" dirty="0">
                <a:hlinkClick r:id="rId2" action="ppaction://hlinkfile"/>
              </a:rPr>
              <a:t>=0; % </a:t>
            </a:r>
            <a:r>
              <a:rPr lang="zh-CN" altLang="en-US" sz="700" dirty="0">
                <a:hlinkClick r:id="rId2" action="ppaction://hlinkfile"/>
              </a:rPr>
              <a:t>定义前景灰度总和</a:t>
            </a:r>
          </a:p>
          <a:p>
            <a:pPr marL="0" indent="0">
              <a:buNone/>
            </a:pPr>
            <a:r>
              <a:rPr lang="zh-CN" altLang="en-US" sz="700" dirty="0">
                <a:hlinkClick r:id="rId2" action="ppaction://hlinkfile"/>
              </a:rPr>
              <a:t>    </a:t>
            </a:r>
            <a:r>
              <a:rPr lang="en-US" altLang="zh-CN" sz="700" dirty="0" err="1">
                <a:hlinkClick r:id="rId2" action="ppaction://hlinkfile"/>
              </a:rPr>
              <a:t>BackgroundSum</a:t>
            </a:r>
            <a:r>
              <a:rPr lang="en-US" altLang="zh-CN" sz="700" dirty="0">
                <a:hlinkClick r:id="rId2" action="ppaction://hlinkfile"/>
              </a:rPr>
              <a:t>=0; % </a:t>
            </a:r>
            <a:r>
              <a:rPr lang="zh-CN" altLang="en-US" sz="700" dirty="0">
                <a:hlinkClick r:id="rId2" action="ppaction://hlinkfile"/>
              </a:rPr>
              <a:t>定义背景灰度总和</a:t>
            </a:r>
          </a:p>
          <a:p>
            <a:pPr marL="0" indent="0">
              <a:buNone/>
            </a:pPr>
            <a:r>
              <a:rPr lang="zh-CN" altLang="en-US" sz="700" dirty="0">
                <a:hlinkClick r:id="rId2" action="ppaction://hlinkfile"/>
              </a:rPr>
              <a:t>    </a:t>
            </a:r>
            <a:r>
              <a:rPr lang="en-US" altLang="zh-CN" sz="700" dirty="0">
                <a:hlinkClick r:id="rId2" action="ppaction://hlinkfile"/>
              </a:rPr>
              <a:t>for </a:t>
            </a:r>
            <a:r>
              <a:rPr lang="en-US" altLang="zh-CN" sz="700" dirty="0" err="1">
                <a:hlinkClick r:id="rId2" action="ppaction://hlinkfile"/>
              </a:rPr>
              <a:t>i</a:t>
            </a:r>
            <a:r>
              <a:rPr lang="en-US" altLang="zh-CN" sz="700" dirty="0">
                <a:hlinkClick r:id="rId2" action="ppaction://hlinkfile"/>
              </a:rPr>
              <a:t>=1:iSize(1)</a:t>
            </a:r>
          </a:p>
          <a:p>
            <a:pPr marL="0" indent="0">
              <a:buNone/>
            </a:pPr>
            <a:r>
              <a:rPr lang="en-US" altLang="zh-CN" sz="700" dirty="0">
                <a:hlinkClick r:id="rId2" action="ppaction://hlinkfile"/>
              </a:rPr>
              <a:t>        for j=1:iSize(2)</a:t>
            </a:r>
          </a:p>
          <a:p>
            <a:pPr marL="0" indent="0">
              <a:buNone/>
            </a:pPr>
            <a:r>
              <a:rPr lang="en-US" altLang="zh-CN" sz="700" dirty="0">
                <a:hlinkClick r:id="rId2" action="ppaction://hlinkfile"/>
              </a:rPr>
              <a:t>            </a:t>
            </a:r>
            <a:r>
              <a:rPr lang="en-US" altLang="zh-CN" sz="700" dirty="0" err="1">
                <a:hlinkClick r:id="rId2" action="ppaction://hlinkfile"/>
              </a:rPr>
              <a:t>tmp</a:t>
            </a:r>
            <a:r>
              <a:rPr lang="en-US" altLang="zh-CN" sz="700" dirty="0">
                <a:hlinkClick r:id="rId2" action="ppaction://hlinkfile"/>
              </a:rPr>
              <a:t>=I(</a:t>
            </a:r>
            <a:r>
              <a:rPr lang="en-US" altLang="zh-CN" sz="700" dirty="0" err="1">
                <a:hlinkClick r:id="rId2" action="ppaction://hlinkfile"/>
              </a:rPr>
              <a:t>i,j</a:t>
            </a:r>
            <a:r>
              <a:rPr lang="en-US" altLang="zh-CN" sz="700" dirty="0">
                <a:hlinkClick r:id="rId2" action="ppaction://hlinkfile"/>
              </a:rPr>
              <a:t>);</a:t>
            </a:r>
          </a:p>
          <a:p>
            <a:pPr marL="0" indent="0">
              <a:buNone/>
            </a:pPr>
            <a:r>
              <a:rPr lang="en-US" altLang="zh-CN" sz="700" dirty="0">
                <a:hlinkClick r:id="rId2" action="ppaction://hlinkfile"/>
              </a:rPr>
              <a:t>            if(</a:t>
            </a:r>
            <a:r>
              <a:rPr lang="en-US" altLang="zh-CN" sz="700" dirty="0" err="1">
                <a:hlinkClick r:id="rId2" action="ppaction://hlinkfile"/>
              </a:rPr>
              <a:t>tmp</a:t>
            </a:r>
            <a:r>
              <a:rPr lang="en-US" altLang="zh-CN" sz="700" dirty="0">
                <a:hlinkClick r:id="rId2" action="ppaction://hlinkfile"/>
              </a:rPr>
              <a:t>&gt;=TK)</a:t>
            </a:r>
          </a:p>
          <a:p>
            <a:pPr marL="0" indent="0">
              <a:buNone/>
            </a:pPr>
            <a:r>
              <a:rPr lang="en-US" altLang="zh-CN" sz="700" dirty="0">
                <a:hlinkClick r:id="rId2" action="ppaction://hlinkfile"/>
              </a:rPr>
              <a:t>                % </a:t>
            </a:r>
            <a:r>
              <a:rPr lang="zh-CN" altLang="en-US" sz="700" dirty="0">
                <a:hlinkClick r:id="rId2" action="ppaction://hlinkfile"/>
              </a:rPr>
              <a:t>前景灰度值</a:t>
            </a:r>
          </a:p>
          <a:p>
            <a:pPr marL="0" indent="0">
              <a:buNone/>
            </a:pPr>
            <a:r>
              <a:rPr lang="zh-CN" altLang="en-US" sz="700" dirty="0">
                <a:hlinkClick r:id="rId2" action="ppaction://hlinkfile"/>
              </a:rPr>
              <a:t>                </a:t>
            </a:r>
            <a:r>
              <a:rPr lang="en-US" altLang="zh-CN" sz="700" dirty="0" err="1">
                <a:hlinkClick r:id="rId2" action="ppaction://hlinkfile"/>
              </a:rPr>
              <a:t>iForeground</a:t>
            </a:r>
            <a:r>
              <a:rPr lang="en-US" altLang="zh-CN" sz="700" dirty="0">
                <a:hlinkClick r:id="rId2" action="ppaction://hlinkfile"/>
              </a:rPr>
              <a:t>=iForeground+1;</a:t>
            </a:r>
          </a:p>
          <a:p>
            <a:pPr marL="0" indent="0">
              <a:buNone/>
            </a:pPr>
            <a:r>
              <a:rPr lang="en-US" altLang="zh-CN" sz="700" dirty="0">
                <a:hlinkClick r:id="rId2" action="ppaction://hlinkfile"/>
              </a:rPr>
              <a:t>                </a:t>
            </a:r>
            <a:r>
              <a:rPr lang="en-US" altLang="zh-CN" sz="700" dirty="0" err="1">
                <a:hlinkClick r:id="rId2" action="ppaction://hlinkfile"/>
              </a:rPr>
              <a:t>ForegroundSum</a:t>
            </a:r>
            <a:r>
              <a:rPr lang="en-US" altLang="zh-CN" sz="700" dirty="0">
                <a:hlinkClick r:id="rId2" action="ppaction://hlinkfile"/>
              </a:rPr>
              <a:t>=</a:t>
            </a:r>
            <a:r>
              <a:rPr lang="en-US" altLang="zh-CN" sz="700" dirty="0" err="1">
                <a:hlinkClick r:id="rId2" action="ppaction://hlinkfile"/>
              </a:rPr>
              <a:t>ForegroundSum+double</a:t>
            </a:r>
            <a:r>
              <a:rPr lang="en-US" altLang="zh-CN" sz="700" dirty="0">
                <a:hlinkClick r:id="rId2" action="ppaction://hlinkfile"/>
              </a:rPr>
              <a:t>(</a:t>
            </a:r>
            <a:r>
              <a:rPr lang="en-US" altLang="zh-CN" sz="700" dirty="0" err="1">
                <a:hlinkClick r:id="rId2" action="ppaction://hlinkfile"/>
              </a:rPr>
              <a:t>tmp</a:t>
            </a:r>
            <a:r>
              <a:rPr lang="en-US" altLang="zh-CN" sz="700" dirty="0">
                <a:hlinkClick r:id="rId2" action="ppaction://hlinkfile"/>
              </a:rPr>
              <a:t>);                </a:t>
            </a:r>
          </a:p>
          <a:p>
            <a:pPr marL="0" indent="0">
              <a:buNone/>
            </a:pPr>
            <a:r>
              <a:rPr lang="en-US" altLang="zh-CN" sz="700" dirty="0">
                <a:hlinkClick r:id="rId2" action="ppaction://hlinkfile"/>
              </a:rPr>
              <a:t>            else</a:t>
            </a:r>
          </a:p>
          <a:p>
            <a:pPr marL="0" indent="0">
              <a:buNone/>
            </a:pPr>
            <a:r>
              <a:rPr lang="en-US" altLang="zh-CN" sz="700" dirty="0">
                <a:hlinkClick r:id="rId2" action="ppaction://hlinkfile"/>
              </a:rPr>
              <a:t>                </a:t>
            </a:r>
            <a:r>
              <a:rPr lang="en-US" altLang="zh-CN" sz="700" dirty="0" err="1">
                <a:hlinkClick r:id="rId2" action="ppaction://hlinkfile"/>
              </a:rPr>
              <a:t>iBackground</a:t>
            </a:r>
            <a:r>
              <a:rPr lang="en-US" altLang="zh-CN" sz="700" dirty="0">
                <a:hlinkClick r:id="rId2" action="ppaction://hlinkfile"/>
              </a:rPr>
              <a:t>=iBackground+1;</a:t>
            </a:r>
          </a:p>
          <a:p>
            <a:pPr marL="0" indent="0">
              <a:buNone/>
            </a:pPr>
            <a:r>
              <a:rPr lang="en-US" altLang="zh-CN" sz="700" dirty="0">
                <a:hlinkClick r:id="rId2" action="ppaction://hlinkfile"/>
              </a:rPr>
              <a:t>                </a:t>
            </a:r>
            <a:r>
              <a:rPr lang="en-US" altLang="zh-CN" sz="700" dirty="0" err="1">
                <a:hlinkClick r:id="rId2" action="ppaction://hlinkfile"/>
              </a:rPr>
              <a:t>BackgroundSum</a:t>
            </a:r>
            <a:r>
              <a:rPr lang="en-US" altLang="zh-CN" sz="700" dirty="0">
                <a:hlinkClick r:id="rId2" action="ppaction://hlinkfile"/>
              </a:rPr>
              <a:t>=</a:t>
            </a:r>
            <a:r>
              <a:rPr lang="en-US" altLang="zh-CN" sz="700" dirty="0" err="1">
                <a:hlinkClick r:id="rId2" action="ppaction://hlinkfile"/>
              </a:rPr>
              <a:t>BackgroundSum+double</a:t>
            </a:r>
            <a:r>
              <a:rPr lang="en-US" altLang="zh-CN" sz="700" dirty="0">
                <a:hlinkClick r:id="rId2" action="ppaction://hlinkfile"/>
              </a:rPr>
              <a:t>(</a:t>
            </a:r>
            <a:r>
              <a:rPr lang="en-US" altLang="zh-CN" sz="700" dirty="0" err="1">
                <a:hlinkClick r:id="rId2" action="ppaction://hlinkfile"/>
              </a:rPr>
              <a:t>tmp</a:t>
            </a:r>
            <a:r>
              <a:rPr lang="en-US" altLang="zh-CN" sz="700" dirty="0">
                <a:hlinkClick r:id="rId2" action="ppaction://hlinkfile"/>
              </a:rPr>
              <a:t>);</a:t>
            </a:r>
          </a:p>
          <a:p>
            <a:pPr marL="0" indent="0">
              <a:buNone/>
            </a:pPr>
            <a:r>
              <a:rPr lang="en-US" altLang="zh-CN" sz="700" dirty="0">
                <a:hlinkClick r:id="rId2" action="ppaction://hlinkfile"/>
              </a:rPr>
              <a:t>            end</a:t>
            </a:r>
          </a:p>
          <a:p>
            <a:pPr marL="0" indent="0">
              <a:buNone/>
            </a:pPr>
            <a:r>
              <a:rPr lang="en-US" altLang="zh-CN" sz="700" dirty="0">
                <a:hlinkClick r:id="rId2" action="ppaction://hlinkfile"/>
              </a:rPr>
              <a:t>        end</a:t>
            </a:r>
          </a:p>
          <a:p>
            <a:pPr marL="0" indent="0">
              <a:buNone/>
            </a:pPr>
            <a:r>
              <a:rPr lang="en-US" altLang="zh-CN" sz="700" dirty="0">
                <a:hlinkClick r:id="rId2" action="ppaction://hlinkfile"/>
              </a:rPr>
              <a:t>    end</a:t>
            </a:r>
          </a:p>
          <a:p>
            <a:pPr marL="0" indent="0">
              <a:buNone/>
            </a:pPr>
            <a:r>
              <a:rPr lang="en-US" altLang="zh-CN" sz="700" dirty="0">
                <a:hlinkClick r:id="rId2" action="ppaction://hlinkfile"/>
              </a:rPr>
              <a:t>    ZO=</a:t>
            </a:r>
            <a:r>
              <a:rPr lang="en-US" altLang="zh-CN" sz="700" dirty="0" err="1">
                <a:hlinkClick r:id="rId2" action="ppaction://hlinkfile"/>
              </a:rPr>
              <a:t>ForegroundSum</a:t>
            </a:r>
            <a:r>
              <a:rPr lang="en-US" altLang="zh-CN" sz="700" dirty="0">
                <a:hlinkClick r:id="rId2" action="ppaction://hlinkfile"/>
              </a:rPr>
              <a:t>/</a:t>
            </a:r>
            <a:r>
              <a:rPr lang="en-US" altLang="zh-CN" sz="700" dirty="0" err="1">
                <a:hlinkClick r:id="rId2" action="ppaction://hlinkfile"/>
              </a:rPr>
              <a:t>iForeground</a:t>
            </a:r>
            <a:r>
              <a:rPr lang="en-US" altLang="zh-CN" sz="700" dirty="0">
                <a:hlinkClick r:id="rId2" action="ppaction://hlinkfile"/>
              </a:rPr>
              <a:t>; %</a:t>
            </a:r>
            <a:r>
              <a:rPr lang="zh-CN" altLang="en-US" sz="700" dirty="0">
                <a:hlinkClick r:id="rId2" action="ppaction://hlinkfile"/>
              </a:rPr>
              <a:t>计算前景的平均值</a:t>
            </a:r>
          </a:p>
          <a:p>
            <a:pPr marL="0" indent="0">
              <a:buNone/>
            </a:pPr>
            <a:r>
              <a:rPr lang="zh-CN" altLang="en-US" sz="700" dirty="0">
                <a:hlinkClick r:id="rId2" action="ppaction://hlinkfile"/>
              </a:rPr>
              <a:t>    </a:t>
            </a:r>
            <a:r>
              <a:rPr lang="en-US" altLang="zh-CN" sz="700" dirty="0">
                <a:hlinkClick r:id="rId2" action="ppaction://hlinkfile"/>
              </a:rPr>
              <a:t>ZB=</a:t>
            </a:r>
            <a:r>
              <a:rPr lang="en-US" altLang="zh-CN" sz="700" dirty="0" err="1">
                <a:hlinkClick r:id="rId2" action="ppaction://hlinkfile"/>
              </a:rPr>
              <a:t>BackgroundSum</a:t>
            </a:r>
            <a:r>
              <a:rPr lang="en-US" altLang="zh-CN" sz="700" dirty="0">
                <a:hlinkClick r:id="rId2" action="ppaction://hlinkfile"/>
              </a:rPr>
              <a:t>/</a:t>
            </a:r>
            <a:r>
              <a:rPr lang="en-US" altLang="zh-CN" sz="700" dirty="0" err="1">
                <a:hlinkClick r:id="rId2" action="ppaction://hlinkfile"/>
              </a:rPr>
              <a:t>iBackground</a:t>
            </a:r>
            <a:r>
              <a:rPr lang="en-US" altLang="zh-CN" sz="700" dirty="0">
                <a:hlinkClick r:id="rId2" action="ppaction://hlinkfile"/>
              </a:rPr>
              <a:t>; %</a:t>
            </a:r>
            <a:r>
              <a:rPr lang="zh-CN" altLang="en-US" sz="700" dirty="0">
                <a:hlinkClick r:id="rId2" action="ppaction://hlinkfile"/>
              </a:rPr>
              <a:t>计算背景的平均值</a:t>
            </a:r>
          </a:p>
          <a:p>
            <a:pPr marL="0" indent="0">
              <a:buNone/>
            </a:pPr>
            <a:r>
              <a:rPr lang="zh-CN" altLang="en-US" sz="700" dirty="0">
                <a:hlinkClick r:id="rId2" action="ppaction://hlinkfile"/>
              </a:rPr>
              <a:t>    </a:t>
            </a:r>
            <a:r>
              <a:rPr lang="en-US" altLang="zh-CN" sz="700" dirty="0" err="1">
                <a:hlinkClick r:id="rId2" action="ppaction://hlinkfile"/>
              </a:rPr>
              <a:t>TKTmp</a:t>
            </a:r>
            <a:r>
              <a:rPr lang="en-US" altLang="zh-CN" sz="700" dirty="0">
                <a:hlinkClick r:id="rId2" action="ppaction://hlinkfile"/>
              </a:rPr>
              <a:t>=uint8((ZO+ZB)/2);</a:t>
            </a:r>
          </a:p>
          <a:p>
            <a:pPr marL="0" indent="0">
              <a:buNone/>
            </a:pPr>
            <a:r>
              <a:rPr lang="en-US" altLang="zh-CN" sz="700" dirty="0">
                <a:hlinkClick r:id="rId2" action="ppaction://hlinkfile"/>
              </a:rPr>
              <a:t>    if(</a:t>
            </a:r>
            <a:r>
              <a:rPr lang="en-US" altLang="zh-CN" sz="700" dirty="0" err="1">
                <a:hlinkClick r:id="rId2" action="ppaction://hlinkfile"/>
              </a:rPr>
              <a:t>TKTmp</a:t>
            </a:r>
            <a:r>
              <a:rPr lang="en-US" altLang="zh-CN" sz="700" dirty="0">
                <a:hlinkClick r:id="rId2" action="ppaction://hlinkfile"/>
              </a:rPr>
              <a:t>==TK)</a:t>
            </a:r>
          </a:p>
          <a:p>
            <a:pPr marL="0" indent="0">
              <a:buNone/>
            </a:pPr>
            <a:r>
              <a:rPr lang="en-US" altLang="zh-CN" sz="700" dirty="0">
                <a:hlinkClick r:id="rId2" action="ppaction://hlinkfile"/>
              </a:rPr>
              <a:t>         </a:t>
            </a:r>
            <a:r>
              <a:rPr lang="en-US" altLang="zh-CN" sz="700" dirty="0" err="1">
                <a:hlinkClick r:id="rId2" action="ppaction://hlinkfile"/>
              </a:rPr>
              <a:t>BCal</a:t>
            </a:r>
            <a:r>
              <a:rPr lang="en-US" altLang="zh-CN" sz="700" dirty="0">
                <a:hlinkClick r:id="rId2" action="ppaction://hlinkfile"/>
              </a:rPr>
              <a:t>=0;</a:t>
            </a:r>
          </a:p>
          <a:p>
            <a:pPr marL="0" indent="0">
              <a:buNone/>
            </a:pPr>
            <a:r>
              <a:rPr lang="en-US" altLang="zh-CN" sz="700" dirty="0">
                <a:hlinkClick r:id="rId2" action="ppaction://hlinkfile"/>
              </a:rPr>
              <a:t>    else</a:t>
            </a:r>
          </a:p>
          <a:p>
            <a:pPr marL="0" indent="0">
              <a:buNone/>
            </a:pPr>
            <a:r>
              <a:rPr lang="en-US" altLang="zh-CN" sz="700" dirty="0">
                <a:hlinkClick r:id="rId2" action="ppaction://hlinkfile"/>
              </a:rPr>
              <a:t>        TK=</a:t>
            </a:r>
            <a:r>
              <a:rPr lang="en-US" altLang="zh-CN" sz="700" dirty="0" err="1">
                <a:hlinkClick r:id="rId2" action="ppaction://hlinkfile"/>
              </a:rPr>
              <a:t>TKTmp</a:t>
            </a:r>
            <a:r>
              <a:rPr lang="en-US" altLang="zh-CN" sz="700" dirty="0">
                <a:hlinkClick r:id="rId2" action="ppaction://hlinkfile"/>
              </a:rPr>
              <a:t>;</a:t>
            </a:r>
          </a:p>
          <a:p>
            <a:pPr marL="0" indent="0">
              <a:buNone/>
            </a:pPr>
            <a:r>
              <a:rPr lang="en-US" altLang="zh-CN" sz="700" dirty="0">
                <a:hlinkClick r:id="rId2" action="ppaction://hlinkfile"/>
              </a:rPr>
              <a:t>    end     %</a:t>
            </a:r>
            <a:r>
              <a:rPr lang="zh-CN" altLang="en-US" sz="700" dirty="0">
                <a:hlinkClick r:id="rId2" action="ppaction://hlinkfile"/>
              </a:rPr>
              <a:t>说明迭代结束</a:t>
            </a:r>
          </a:p>
          <a:p>
            <a:pPr marL="0" indent="0">
              <a:buNone/>
            </a:pPr>
            <a:r>
              <a:rPr lang="zh-CN" altLang="en-US" sz="700" dirty="0">
                <a:hlinkClick r:id="rId2" action="ppaction://hlinkfile"/>
              </a:rPr>
              <a:t>   </a:t>
            </a:r>
            <a:r>
              <a:rPr lang="en-US" altLang="zh-CN" sz="700" dirty="0">
                <a:hlinkClick r:id="rId2" action="ppaction://hlinkfile"/>
              </a:rPr>
              <a:t>end   </a:t>
            </a:r>
          </a:p>
          <a:p>
            <a:pPr marL="0" indent="0">
              <a:buNone/>
            </a:pPr>
            <a:r>
              <a:rPr lang="en-US" altLang="zh-CN" sz="700" dirty="0" err="1">
                <a:hlinkClick r:id="rId2" action="ppaction://hlinkfile"/>
              </a:rPr>
              <a:t>disp</a:t>
            </a:r>
            <a:r>
              <a:rPr lang="en-US" altLang="zh-CN" sz="700" dirty="0">
                <a:hlinkClick r:id="rId2" action="ppaction://hlinkfile"/>
              </a:rPr>
              <a:t>(</a:t>
            </a:r>
            <a:r>
              <a:rPr lang="en-US" altLang="zh-CN" sz="700" dirty="0" err="1">
                <a:hlinkClick r:id="rId2" action="ppaction://hlinkfile"/>
              </a:rPr>
              <a:t>strcat</a:t>
            </a:r>
            <a:r>
              <a:rPr lang="en-US" altLang="zh-CN" sz="700" dirty="0">
                <a:hlinkClick r:id="rId2" action="ppaction://hlinkfile"/>
              </a:rPr>
              <a:t>('</a:t>
            </a:r>
            <a:r>
              <a:rPr lang="zh-CN" altLang="en-US" sz="700" dirty="0">
                <a:hlinkClick r:id="rId2" action="ppaction://hlinkfile"/>
              </a:rPr>
              <a:t>迭代后的阈值</a:t>
            </a:r>
            <a:r>
              <a:rPr lang="en-US" altLang="zh-CN" sz="700" dirty="0">
                <a:hlinkClick r:id="rId2" action="ppaction://hlinkfile"/>
              </a:rPr>
              <a:t>:',num2str(TK)));</a:t>
            </a:r>
          </a:p>
          <a:p>
            <a:pPr marL="0" indent="0">
              <a:buNone/>
            </a:pPr>
            <a:r>
              <a:rPr lang="en-US" altLang="zh-CN" sz="700" dirty="0" err="1">
                <a:hlinkClick r:id="rId2" action="ppaction://hlinkfile"/>
              </a:rPr>
              <a:t>newI</a:t>
            </a:r>
            <a:r>
              <a:rPr lang="en-US" altLang="zh-CN" sz="700" dirty="0">
                <a:hlinkClick r:id="rId2" action="ppaction://hlinkfile"/>
              </a:rPr>
              <a:t>=im2bw(</a:t>
            </a:r>
            <a:r>
              <a:rPr lang="en-US" altLang="zh-CN" sz="700" dirty="0" err="1">
                <a:hlinkClick r:id="rId2" action="ppaction://hlinkfile"/>
              </a:rPr>
              <a:t>I,double</a:t>
            </a:r>
            <a:r>
              <a:rPr lang="en-US" altLang="zh-CN" sz="700" dirty="0">
                <a:hlinkClick r:id="rId2" action="ppaction://hlinkfile"/>
              </a:rPr>
              <a:t>(TK)/255);</a:t>
            </a:r>
          </a:p>
          <a:p>
            <a:pPr marL="0" indent="0">
              <a:buNone/>
            </a:pPr>
            <a:r>
              <a:rPr lang="en-US" altLang="zh-CN" sz="700" dirty="0">
                <a:hlinkClick r:id="rId2" action="ppaction://hlinkfile"/>
              </a:rPr>
              <a:t>subplot(1,2,1);</a:t>
            </a:r>
            <a:r>
              <a:rPr lang="en-US" altLang="zh-CN" sz="700" dirty="0" err="1">
                <a:hlinkClick r:id="rId2" action="ppaction://hlinkfile"/>
              </a:rPr>
              <a:t>imshow</a:t>
            </a:r>
            <a:r>
              <a:rPr lang="en-US" altLang="zh-CN" sz="700" dirty="0">
                <a:hlinkClick r:id="rId2" action="ppaction://hlinkfile"/>
              </a:rPr>
              <a:t>(I);</a:t>
            </a:r>
          </a:p>
          <a:p>
            <a:pPr marL="0" indent="0">
              <a:buNone/>
            </a:pPr>
            <a:r>
              <a:rPr lang="en-US" altLang="zh-CN" sz="700" dirty="0">
                <a:hlinkClick r:id="rId2" action="ppaction://hlinkfile"/>
              </a:rPr>
              <a:t>title('</a:t>
            </a:r>
            <a:r>
              <a:rPr lang="zh-CN" altLang="en-US" sz="700" dirty="0">
                <a:hlinkClick r:id="rId2" action="ppaction://hlinkfile"/>
              </a:rPr>
              <a:t>原始图像</a:t>
            </a:r>
            <a:r>
              <a:rPr lang="en-US" altLang="zh-CN" sz="700" dirty="0">
                <a:hlinkClick r:id="rId2" action="ppaction://hlinkfile"/>
              </a:rPr>
              <a:t>');</a:t>
            </a:r>
          </a:p>
          <a:p>
            <a:pPr marL="0" indent="0">
              <a:buNone/>
            </a:pPr>
            <a:r>
              <a:rPr lang="en-US" altLang="zh-CN" sz="700" dirty="0">
                <a:hlinkClick r:id="rId2" action="ppaction://hlinkfile"/>
              </a:rPr>
              <a:t>subplot(1,2,2);</a:t>
            </a:r>
            <a:r>
              <a:rPr lang="en-US" altLang="zh-CN" sz="700" dirty="0" err="1">
                <a:hlinkClick r:id="rId2" action="ppaction://hlinkfile"/>
              </a:rPr>
              <a:t>imshow</a:t>
            </a:r>
            <a:r>
              <a:rPr lang="en-US" altLang="zh-CN" sz="700" dirty="0">
                <a:hlinkClick r:id="rId2" action="ppaction://hlinkfile"/>
              </a:rPr>
              <a:t>(</a:t>
            </a:r>
            <a:r>
              <a:rPr lang="en-US" altLang="zh-CN" sz="700" dirty="0" err="1">
                <a:hlinkClick r:id="rId2" action="ppaction://hlinkfile"/>
              </a:rPr>
              <a:t>newI</a:t>
            </a:r>
            <a:r>
              <a:rPr lang="en-US" altLang="zh-CN" sz="700" dirty="0">
                <a:hlinkClick r:id="rId2" action="ppaction://hlinkfile"/>
              </a:rPr>
              <a:t>);</a:t>
            </a:r>
          </a:p>
          <a:p>
            <a:pPr marL="0" indent="0">
              <a:buNone/>
            </a:pPr>
            <a:r>
              <a:rPr lang="en-US" altLang="zh-CN" sz="700" dirty="0">
                <a:hlinkClick r:id="rId2" action="ppaction://hlinkfile"/>
              </a:rPr>
              <a:t>title('</a:t>
            </a:r>
            <a:r>
              <a:rPr lang="zh-CN" altLang="en-US" sz="700" dirty="0">
                <a:hlinkClick r:id="rId2" action="ppaction://hlinkfile"/>
              </a:rPr>
              <a:t>迭代法分割效果图</a:t>
            </a:r>
            <a:r>
              <a:rPr lang="en-US" altLang="zh-CN" sz="700" dirty="0">
                <a:hlinkClick r:id="rId2" action="ppaction://hlinkfile"/>
              </a:rPr>
              <a:t>');</a:t>
            </a:r>
          </a:p>
          <a:p>
            <a:pPr marL="0" indent="0">
              <a:buNone/>
            </a:pPr>
            <a:endParaRPr lang="zh-CN" altLang="en-US" sz="700" dirty="0">
              <a:hlinkClick r:id="rId2" action="ppaction://hlinkfil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840" y="1844824"/>
            <a:ext cx="6264696" cy="312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540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阈值分割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分水岭分割法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933" y="1204154"/>
            <a:ext cx="10992544" cy="2671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533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阈值分割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分水岭分割法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1268760"/>
            <a:ext cx="11413517" cy="492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57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阈值分割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分水岭分割法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48" y="1244187"/>
            <a:ext cx="11064552" cy="451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248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阈值分割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分水岭分割法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124744"/>
            <a:ext cx="10972800" cy="48965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all;</a:t>
            </a:r>
          </a:p>
          <a:p>
            <a:pPr marL="0" indent="0"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ct1 = -9;</a:t>
            </a:r>
          </a:p>
          <a:p>
            <a:pPr marL="0" indent="0"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ct2 = -ct1;</a:t>
            </a:r>
          </a:p>
          <a:p>
            <a:pPr marL="0" indent="0">
              <a:buNone/>
            </a:pP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sqrt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(2*(2*ct1)^2);</a:t>
            </a:r>
          </a:p>
          <a:p>
            <a:pPr marL="0" indent="0">
              <a:buNone/>
            </a:pP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 * 1.4;</a:t>
            </a:r>
          </a:p>
          <a:p>
            <a:pPr marL="0" indent="0">
              <a:buNone/>
            </a:pP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lims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[floor(ct1-1.2*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ceil(ct2+1.2*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)];</a:t>
            </a:r>
          </a:p>
          <a:p>
            <a:pPr marL="0" indent="0"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meshgrid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lims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(1):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lims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(2));</a:t>
            </a:r>
          </a:p>
          <a:p>
            <a:pPr marL="0" indent="0"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bw1 =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sqrt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((x-ct1).^2 + (y-ct1).^2) &lt;=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bw2 =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sqrt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((x-ct2).^2 + (y-ct2).^2) &lt;=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bw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bw1 | bw2;</a:t>
            </a:r>
          </a:p>
          <a:p>
            <a:pPr marL="0" indent="0"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subplot(131),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imshow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bw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,'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InitialMagnification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','fit'), </a:t>
            </a:r>
          </a:p>
          <a:p>
            <a:pPr marL="0" indent="0"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title('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二值图像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');</a:t>
            </a:r>
          </a:p>
          <a:p>
            <a:pPr marL="0" indent="0"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bwdist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(~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bw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subplot(132),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imshow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(F,[],'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InitialMagnification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','fit')</a:t>
            </a:r>
          </a:p>
          <a:p>
            <a:pPr marL="0" indent="0"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title('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分割前的等高线图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');</a:t>
            </a:r>
          </a:p>
          <a:p>
            <a:pPr marL="0" indent="0"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-F;</a:t>
            </a:r>
          </a:p>
          <a:p>
            <a:pPr marL="0" indent="0"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F(~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bw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-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进行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watershed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分割并将分割结果以标记图形式绘出</a:t>
            </a:r>
          </a:p>
          <a:p>
            <a:pPr marL="0" indent="0"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= watershed(F);</a:t>
            </a:r>
          </a:p>
          <a:p>
            <a:pPr marL="0" indent="0">
              <a:buNone/>
            </a:pP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rgb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label2rgb(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L,'jet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',[.6 .6 .6]);</a:t>
            </a:r>
          </a:p>
          <a:p>
            <a:pPr marL="0" indent="0"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subplot(133),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imshow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rgb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,'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InitialMagnification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','fit')</a:t>
            </a:r>
          </a:p>
          <a:p>
            <a:pPr marL="0" indent="0">
              <a:buNone/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title('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分水岭变换</a:t>
            </a:r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515" y="1700808"/>
            <a:ext cx="7602823" cy="350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157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区域分割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25" y="1321465"/>
            <a:ext cx="10992544" cy="244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4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区域分割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区域生长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区域生长原理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88840"/>
            <a:ext cx="10848528" cy="207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045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区域分割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区域生长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24" y="1153682"/>
            <a:ext cx="8304245" cy="570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520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区域分割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区域生长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12" y="1069278"/>
            <a:ext cx="11280576" cy="546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294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区域分割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区域生长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80120"/>
            <a:ext cx="4951725" cy="56612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888" y="1916832"/>
            <a:ext cx="6600825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814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区域分割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区域分裂合并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02" y="1340768"/>
            <a:ext cx="11131798" cy="376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06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区域分割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区域分裂合并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1193790"/>
            <a:ext cx="9381561" cy="5634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927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区域分割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区域分裂合并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=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imread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('rice.png');                   %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读入图像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=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qtdecomp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(I,.26);                         %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四叉树分解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blocks =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repmat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(uint8(0),size(S));              %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块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dim = [512 256 128 64 32 16 8 4 2 1];    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numblocks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length(find(S==dim));    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if 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numblocks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0)        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values =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repmat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(uint8(1),[dim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numblocks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values(2:dim,2:dim,:) = 0;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blocks =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qtsetblk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blocks,S,dim,values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end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blocks(end,1:end) = 1;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blocks(1:end,end) = 1;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subplot(1,2,1);</a:t>
            </a:r>
          </a:p>
          <a:p>
            <a:pPr marL="0" indent="0">
              <a:buNone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imshow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(I); 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title('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原始图像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                                  %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显示原始图像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subplot(1,2,2);</a:t>
            </a:r>
          </a:p>
          <a:p>
            <a:pPr marL="0" indent="0">
              <a:buNone/>
            </a:pP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imshow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(blocks,[])                        %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显示处理后的图像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title('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块状四叉树分解图像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0" indent="0">
              <a:buNone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E76F01-11C2-4B64-9D70-BDE5F31E3186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705" y="1412776"/>
            <a:ext cx="6587983" cy="294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50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主管人员">
  <a:themeElements>
    <a:clrScheme name="主管人员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主管人员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主管人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24204</TotalTime>
  <Words>717</Words>
  <Application>Microsoft Office PowerPoint</Application>
  <PresentationFormat>宽屏</PresentationFormat>
  <Paragraphs>166</Paragraphs>
  <Slides>26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9" baseType="lpstr">
      <vt:lpstr>黑体</vt:lpstr>
      <vt:lpstr>楷体_GB2312</vt:lpstr>
      <vt:lpstr>宋体</vt:lpstr>
      <vt:lpstr>微软雅黑</vt:lpstr>
      <vt:lpstr>幼圆</vt:lpstr>
      <vt:lpstr>Arial</vt:lpstr>
      <vt:lpstr>Century Gothic</vt:lpstr>
      <vt:lpstr>Courier New</vt:lpstr>
      <vt:lpstr>Palatino Linotype</vt:lpstr>
      <vt:lpstr>Times New Roman</vt:lpstr>
      <vt:lpstr>Verdana</vt:lpstr>
      <vt:lpstr>Wingdings</vt:lpstr>
      <vt:lpstr>主管人员</vt:lpstr>
      <vt:lpstr>图像分割与区域处理 II</vt:lpstr>
      <vt:lpstr>内容提要</vt:lpstr>
      <vt:lpstr>图像分割概述</vt:lpstr>
      <vt:lpstr>图像分割概述</vt:lpstr>
      <vt:lpstr>阈值分割</vt:lpstr>
      <vt:lpstr>阈值分割</vt:lpstr>
      <vt:lpstr>阈值分割</vt:lpstr>
      <vt:lpstr>阈值分割——直方图阈值法</vt:lpstr>
      <vt:lpstr>阈值分割——Otsu阈值法</vt:lpstr>
      <vt:lpstr>阈值分割——Otsu阈值法</vt:lpstr>
      <vt:lpstr>阈值分割——Otsu阈值法</vt:lpstr>
      <vt:lpstr>阈值分割——自动阈值法</vt:lpstr>
      <vt:lpstr>阈值分割——迭代式阈值选择</vt:lpstr>
      <vt:lpstr>阈值分割——迭代式阈值选择</vt:lpstr>
      <vt:lpstr>阈值分割——分水岭分割法</vt:lpstr>
      <vt:lpstr>阈值分割——分水岭分割法</vt:lpstr>
      <vt:lpstr>阈值分割——分水岭分割法</vt:lpstr>
      <vt:lpstr>阈值分割——分水岭分割法</vt:lpstr>
      <vt:lpstr>区域分割</vt:lpstr>
      <vt:lpstr>区域分割——区域生长</vt:lpstr>
      <vt:lpstr>区域分割——区域生长</vt:lpstr>
      <vt:lpstr>区域分割——区域生长</vt:lpstr>
      <vt:lpstr>区域分割——区域生长</vt:lpstr>
      <vt:lpstr>区域分割——区域分裂合并</vt:lpstr>
      <vt:lpstr>区域分割——区域分裂合并</vt:lpstr>
      <vt:lpstr>区域分割——区域分裂合并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Understanding and Retrieval for Cross-Media</dc:title>
  <dc:creator>WuFei</dc:creator>
  <cp:lastModifiedBy>Junx</cp:lastModifiedBy>
  <cp:revision>3963</cp:revision>
  <dcterms:created xsi:type="dcterms:W3CDTF">2006-01-19T05:42:51Z</dcterms:created>
  <dcterms:modified xsi:type="dcterms:W3CDTF">2022-07-08T02:26:21Z</dcterms:modified>
</cp:coreProperties>
</file>